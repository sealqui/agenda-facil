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trello.com/b/jgp37Fpg/agenda-faci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INGENIERÍA DE SOFTWARE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D6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la ingeniería de software organiza un consultorio, explicado con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D6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agenda de la peluquería del barrio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3291840" cy="18288"/>
          </a:xfrm>
          <a:prstGeom prst="rect">
            <a:avLst/>
          </a:prstGeom>
          <a:solidFill>
            <a:srgbClr val="1F6E7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Sergio Alsina Quimbayo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36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4636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[Materia]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200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5020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[Docente]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04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ENTREGA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54041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[Fecha de entrega]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individual · Formato: presentación dinámica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EMPEZAR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qué habla esta presentación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190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y la analogía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665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consultorio pequeño, una libreta de citas y por qué eso ya no funciona.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70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Definición del proyecto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181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Objetivo, alcance, stakeholders y riesgos de Agenda Fácil.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221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Metodología y gestión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696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Ágil vs. Cascada, roles del equipo y cronograma de sprints.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8737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· Stack tecnológico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22122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gestión, repositorio, modelado y arquitectura.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REAL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consultorio que vive a punta de libreta y llamadas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consultorios odontológicos pequeños agendan citas igual que una peluquería de barrio: en una libreta de papel, a punta de llamadas y “de memoria”.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70632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65176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pacientes reciben el mismo horario porque nadie cruzó la información.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92424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3273552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recuerda avisarle al paciente un día antes: cae en no-show.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14216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895344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recepcionista falta, nadie sabe qué horarios quedan libres.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36008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517136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información de los pacientes vive en una sola libreta física.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1737360"/>
            <a:ext cx="4572000" cy="3566160"/>
          </a:xfrm>
          <a:prstGeom prst="roundRect">
            <a:avLst>
              <a:gd name="adj" fmla="val 3077"/>
            </a:avLst>
          </a:prstGeom>
          <a:solidFill>
            <a:srgbClr val="0146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DE INGENIERÍA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3774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construimos un sistema que reemplace la libreta sin volver loco a nadie del consultorio?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9319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BFE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pregunta es, en el fondo, el mismo problema que resuelve cualquier proyecto de software: convertir un proceso manual, propenso a errores, en un producto confiable.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ANALOGÍA QUE USAREMOS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peluquería del barrio, versión digital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3A50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la libreta de citas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97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dueño anota los turnos a mano.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558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3558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moja o se pierde la libreta, se pierde todo.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0142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142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una persona sabe leer la letra y el orden.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672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6725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Avisar un cambio implica llamar uno por uno.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96596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AHORA: Agenda Fácil (el software)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697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697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turno queda guardado en una base de datos.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3558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3558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local se incendia, la información sigue en la nube.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0142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0142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persona autorizada puede consultarla.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672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6725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se avisa solo, por WhatsApp o SMS.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DEFINICIÓN DEL PROYECTO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 y alcance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6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Reemplazar la libreta de citas por un sistema digital que permita agendar, confirmar, reprogramar y cancelar citas odontológicas, con recordatorios automáticos para pacientes y odontólogos.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318608" cy="2514600"/>
          </a:xfrm>
          <a:prstGeom prst="roundRect">
            <a:avLst>
              <a:gd name="adj" fmla="val 3636"/>
            </a:avLst>
          </a:prstGeom>
          <a:solidFill>
            <a:srgbClr val="F4F8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29184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DENTRO DEL ALCANCE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49040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Agenda en línea por odontólogo y horario.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187952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Confirmación, reprogramación y cancelación de citas.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626864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Recordatorios automáticos (SMS / WhatsApp).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065776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Panel administrativo con reportes básicos.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4448" y="3063240"/>
            <a:ext cx="5318608" cy="2514600"/>
          </a:xfrm>
          <a:prstGeom prst="roundRect">
            <a:avLst>
              <a:gd name="adj" fmla="val 3636"/>
            </a:avLst>
          </a:prstGeom>
          <a:solidFill>
            <a:srgbClr val="F4F8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44488" y="329184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FUERA DEL ALCANCE (por ahora)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44488" y="3749040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Historia clínica completa del paciente.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44488" y="4187952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Facturación electrónica y contabilidad.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44488" y="4626864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Telemedicina o videoconsulta.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44488" y="5065776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Integración con seguros médicos.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DEFINICIÓN DEL PROYECTO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Stakeholders: quién entra al salón y quién lo hace andar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3748" y="17373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4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98068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9806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9588" y="19933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98068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Piden la cita y esperan que no se les olvide.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1348" y="17373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4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55668" y="20116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5566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87188" y="19933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Odontólogos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5668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 su agenda del día y su disponibilidad.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38948" y="17373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4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13268" y="201168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1326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44788" y="19933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13268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cuidaba la libreta; ahora administra el sistema.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3748" y="38862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4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998068" y="4160520"/>
            <a:ext cx="548640" cy="548640"/>
          </a:xfrm>
          <a:prstGeom prst="ellipse">
            <a:avLst/>
          </a:prstGeom>
          <a:solidFill>
            <a:srgbClr val="3A50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806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729588" y="4142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del consultorio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98068" y="4846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 reportes de ocupación y ausencias.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1348" y="38862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4F8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655668" y="4160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5566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87188" y="4142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55668" y="4846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Construye, prueba y mantiene Agenda Fácil.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38948" y="38862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4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313268" y="4160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1326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044788" y="4142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 de SMS / WhatsApp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13268" y="4846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los recordatorios; es un tercero externo.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DEFINICIÓN DEL PROYECTO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Riesgos: qué pasa si falta algo en el salón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4206240"/>
        </p:xfrm>
        <a:graphic>
          <a:graphicData uri="http://schemas.openxmlformats.org/drawingml/2006/table">
            <a:tbl>
              <a:tblPr/>
              <a:tblGrid>
                <a:gridCol w="3383280"/>
                <a:gridCol w="3566160"/>
                <a:gridCol w="341071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la peluquería sería...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cae el servidor el día de mayor demanda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va la luz el sábado, el día de más clientes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Monitoreo + respaldo en la nube + plan de contingencia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Pacientes mayores no adoptan la 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Doña Rosa solo pide su cita por teléfono, hace 20 años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Mantener línea telefónica de respaldo y capacitación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consultorio cambia las reglas a mitad de camino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dueño decide cobrar por adelantado a mitad de 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Scrum con sprints cortos y backlog priorizado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Fuga de datos de pacientes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Dejar la libreta abierta en el mostrador para cualquiera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Cifrado, control de acceso y copias de respaldo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Falla la API de WhatsApp / SMS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mensajero de turnos se enferma y nadie avisa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Proveedor alterno de mensajes y reintentos automáticos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METODOLOGÍA Y GESTIÓN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¿Cascada o Ágil? Comparemos con el consultorio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4F8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706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congelan desde el día 1, no pueden cambiar.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83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393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Requieren un proceso formal de control de cambios.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519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5079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entregable, al final de varios meses.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120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376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consultorio pide algo nuevo, hay que rehacer plan.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0146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Ágil (Scrum) — elegida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5146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7706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ajustan sprint a sprint según lo que pide el consultorio.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383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6393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Bienvenidos en cualquier momento del proyecto.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2519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5079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módulo funcional entregado cada 1-2 semanas.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120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376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detecta y corrige temprano, no al final.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METODOLOGÍA Y GESTIÓN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Scrum es la metodología correcta aquí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de citas médicas cambia de reglas todo el tiempo: políticas de cancelación, nuevos horarios, nuevas formas de recordar la cita. Eso es exactamente lo que Scrum está diseñado para absorber.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200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constante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519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consultorio (cliente) prueba cada entrega y dice qué ajustar, como probar un corte antes de terminarlo.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880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3200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cortas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2519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1-2 semanas hay algo funcional que se puede mostrar, no una promesa a 6 meses.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880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549640" y="3200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49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pequeño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42519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una sola persona a cargo de todo, es más manejable dividir el trabajo en sprints que en fases gigantes.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METODOLOGÍA Y GESTIÓN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del equipo Scrum (trabajo individual)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proyecto se desarrolla de forma individual: Sergio Alsina Quimbayo asume, en distintos momentos de cada sprint, los cuatro roles de un equipo Scrum real.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4F8F7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6517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qué se construye primero según lo que necesita el consultorio.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212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Sergio 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10712" y="23317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4F8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325112" y="265176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25112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los sprints y quita obstáculos del camino.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5212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Sergio 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72784" y="23317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4F8F7"/>
          </a:solidFill>
          <a:ln/>
        </p:spPr>
      </p:sp>
      <p:sp>
        <p:nvSpPr>
          <p:cNvPr id="18" name="Shape 16"/>
          <p:cNvSpPr/>
          <p:nvPr/>
        </p:nvSpPr>
        <p:spPr>
          <a:xfrm>
            <a:off x="7187184" y="2651760"/>
            <a:ext cx="777240" cy="77724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87184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y diseña cada módulo de Agenda Fácil.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5212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Sergio 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34856" y="23317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4F8F7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49256" y="2651760"/>
            <a:ext cx="777240" cy="777240"/>
          </a:xfrm>
          <a:prstGeom prst="ellipse">
            <a:avLst/>
          </a:prstGeom>
          <a:solidFill>
            <a:srgbClr val="3A50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49256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Q/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317736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/ Control de calidad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317736" y="41148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cada entrega antes de mostrarla al consultorio.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317736" y="5212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Sergio A.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METODOLOGÍA Y GESTIÓN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Cronograma: 7 sprints, 12 semanas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878815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67712"/>
            <a:ext cx="878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93776" y="3127248"/>
            <a:ext cx="9885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Planeación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73175" y="2194560"/>
            <a:ext cx="1803349" cy="82296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73175" y="2267712"/>
            <a:ext cx="18033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8311" y="3127248"/>
            <a:ext cx="19130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y calendario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22244" y="2194560"/>
            <a:ext cx="1803349" cy="822960"/>
          </a:xfrm>
          <a:prstGeom prst="roundRect">
            <a:avLst>
              <a:gd name="adj" fmla="val 6667"/>
            </a:avLst>
          </a:prstGeom>
          <a:solidFill>
            <a:srgbClr val="F4A3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22244" y="2267712"/>
            <a:ext cx="18033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67380" y="3127248"/>
            <a:ext cx="19130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71313" y="2194560"/>
            <a:ext cx="1803349" cy="822960"/>
          </a:xfrm>
          <a:prstGeom prst="roundRect">
            <a:avLst>
              <a:gd name="adj" fmla="val 6667"/>
            </a:avLst>
          </a:prstGeom>
          <a:solidFill>
            <a:srgbClr val="3A50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71313" y="2267712"/>
            <a:ext cx="18033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16449" y="3127248"/>
            <a:ext cx="19130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20382" y="2194560"/>
            <a:ext cx="1803349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20382" y="2267712"/>
            <a:ext cx="18033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65518" y="3127248"/>
            <a:ext cx="19130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admin.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69451" y="2194560"/>
            <a:ext cx="1803349" cy="82296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69451" y="2267712"/>
            <a:ext cx="18033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814587" y="3127248"/>
            <a:ext cx="19130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718521" y="2194560"/>
            <a:ext cx="878815" cy="822960"/>
          </a:xfrm>
          <a:prstGeom prst="roundRect">
            <a:avLst>
              <a:gd name="adj" fmla="val 6667"/>
            </a:avLst>
          </a:prstGeom>
          <a:solidFill>
            <a:srgbClr val="F4A3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18521" y="2267712"/>
            <a:ext cx="878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663657" y="3127248"/>
            <a:ext cx="9885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977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semanas ≈ 3 meses de trabajo individual, sprints de 2 semanas (S0 y S6 de 1 semana).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11094415" cy="1417320"/>
          </a:xfrm>
          <a:prstGeom prst="roundRect">
            <a:avLst>
              <a:gd name="adj" fmla="val 6452"/>
            </a:avLst>
          </a:prstGeom>
          <a:solidFill>
            <a:srgbClr val="F4F8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66344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📎  CRONOGRAMA COMPLETO EN EXCEL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495604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archivo “Cronograma_AgendaFacil.xlsx” incluye la vista Gantt (con fecha de inicio editable) y el Sprint Backlog con cada tarea, responsable, prioridad, estado y horas estimadas (192 h en total).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· STACK TECNOLÓGICO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gestión de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146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50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ELEGIDA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Tablero Kanban visual y simple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56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Curva de aprendizaje mínima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867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Gratis para trabajo individual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1713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Encaja natural con Scrum/Kanban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4F8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011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450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ELEGIDA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Muy robusto para equipos grandes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456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Configuración compleja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9867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Pensada para squads de varios equipos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4F8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2011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Asana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4505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ELEGIDA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Buena para gestión general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456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Menos orientada a tableros técnicos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39867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 queda corta para backlog técnico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· STACK TECNOLÓGICO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de código y herramientas de modelado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versiones (Git)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5468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cambio en el código queda registrado, como una “línea base” que se puede recuperar si algo sale mal. Permite trabajar por ramas (features) y volver atrás sin perder el trabajo previo.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103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+ draw.io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y prototipado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15468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para maquetar las pantallas de la app antes de programarlas, y draw.io para los diagramas UML (casos de uso, clases) que documentan cómo se conecta cada módulo.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· STACK TECNOLÓGICO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estaciones de trabajo del salón, en versión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647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desk (Frontend)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7647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Flutter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709928"/>
            <a:ext cx="4053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 y toca el paciente: la pantalla para pedir su cita.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Trastienda (Backend)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606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551176"/>
            <a:ext cx="4053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lógica que decide horarios, valida y coordina todo.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4A3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4472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de fichas (Base de datos)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447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392424"/>
            <a:ext cx="4053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queda guardada cada cita y cada paciente.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3A50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2885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mensajero (Notificaciones)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2885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/ WhatsApp API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4233672"/>
            <a:ext cx="4053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 al paciente y al odontólogo antes de la cita.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0146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1297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local (Hosting)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5129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/ Render (nube)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5074920"/>
            <a:ext cx="4053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vive todo, disponible 24/7 sin depender de un solo computador.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· STACK TECNOLÓGICO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Trello: la pizarra del salón, en digital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1929384" cy="384048"/>
          </a:xfrm>
          <a:prstGeom prst="roundRect">
            <a:avLst>
              <a:gd name="adj" fmla="val 14286"/>
            </a:avLst>
          </a:prstGeom>
          <a:solidFill>
            <a:srgbClr val="3A50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80136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2313432"/>
            <a:ext cx="1929384" cy="566928"/>
          </a:xfrm>
          <a:prstGeom prst="roundRect">
            <a:avLst>
              <a:gd name="adj" fmla="val 8065"/>
            </a:avLst>
          </a:prstGeom>
          <a:solidFill>
            <a:srgbClr val="F4F8F7"/>
          </a:solidFill>
          <a:ln w="9525">
            <a:solidFill>
              <a:srgbClr val="E3E9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35915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Historia: recordatorio 24h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971800"/>
            <a:ext cx="1929384" cy="566928"/>
          </a:xfrm>
          <a:prstGeom prst="roundRect">
            <a:avLst>
              <a:gd name="adj" fmla="val 8065"/>
            </a:avLst>
          </a:prstGeom>
          <a:solidFill>
            <a:srgbClr val="F4F8F7"/>
          </a:solidFill>
          <a:ln w="9525">
            <a:solidFill>
              <a:srgbClr val="E3E9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01752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Historia: multi-agenda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62072" y="169164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801368"/>
            <a:ext cx="1929384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71800" y="180136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hacer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71800" y="2313432"/>
            <a:ext cx="1929384" cy="566928"/>
          </a:xfrm>
          <a:prstGeom prst="roundRect">
            <a:avLst>
              <a:gd name="adj" fmla="val 8065"/>
            </a:avLst>
          </a:prstGeom>
          <a:solidFill>
            <a:srgbClr val="F4F8F7"/>
          </a:solidFill>
          <a:ln w="9525">
            <a:solidFill>
              <a:srgbClr val="E3E9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235915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de citas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71800" y="2971800"/>
            <a:ext cx="1929384" cy="566928"/>
          </a:xfrm>
          <a:prstGeom prst="roundRect">
            <a:avLst>
              <a:gd name="adj" fmla="val 8065"/>
            </a:avLst>
          </a:prstGeom>
          <a:solidFill>
            <a:srgbClr val="F4F8F7"/>
          </a:solidFill>
          <a:ln w="9525">
            <a:solidFill>
              <a:srgbClr val="E3E9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63240" y="301752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pacientes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75504" y="169164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1801368"/>
            <a:ext cx="1929384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85232" y="180136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progreso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285232" y="2313432"/>
            <a:ext cx="1929384" cy="566928"/>
          </a:xfrm>
          <a:prstGeom prst="roundRect">
            <a:avLst>
              <a:gd name="adj" fmla="val 8065"/>
            </a:avLst>
          </a:prstGeom>
          <a:solidFill>
            <a:srgbClr val="F4F8F7"/>
          </a:solidFill>
          <a:ln w="9525">
            <a:solidFill>
              <a:srgbClr val="E3E9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76672" y="235915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 calendario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85232" y="2971800"/>
            <a:ext cx="1929384" cy="566928"/>
          </a:xfrm>
          <a:prstGeom prst="roundRect">
            <a:avLst>
              <a:gd name="adj" fmla="val 8065"/>
            </a:avLst>
          </a:prstGeom>
          <a:solidFill>
            <a:srgbClr val="F4F8F7"/>
          </a:solidFill>
          <a:ln w="9525">
            <a:solidFill>
              <a:srgbClr val="E3E9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76672" y="301752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WhatsApp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88936" y="169164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98664" y="1801368"/>
            <a:ext cx="1929384" cy="384048"/>
          </a:xfrm>
          <a:prstGeom prst="roundRect">
            <a:avLst>
              <a:gd name="adj" fmla="val 14286"/>
            </a:avLst>
          </a:prstGeom>
          <a:solidFill>
            <a:srgbClr val="F4A3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598664" y="180136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revisión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598664" y="2313432"/>
            <a:ext cx="1929384" cy="566928"/>
          </a:xfrm>
          <a:prstGeom prst="roundRect">
            <a:avLst>
              <a:gd name="adj" fmla="val 8065"/>
            </a:avLst>
          </a:prstGeom>
          <a:solidFill>
            <a:srgbClr val="F4F8F7"/>
          </a:solidFill>
          <a:ln w="9525">
            <a:solidFill>
              <a:srgbClr val="E3E9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90104" y="235915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aceptación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802368" y="169164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12096" y="1801368"/>
            <a:ext cx="1929384" cy="384048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912096" y="180136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912096" y="2313432"/>
            <a:ext cx="1929384" cy="566928"/>
          </a:xfrm>
          <a:prstGeom prst="roundRect">
            <a:avLst>
              <a:gd name="adj" fmla="val 8065"/>
            </a:avLst>
          </a:prstGeom>
          <a:solidFill>
            <a:srgbClr val="F4F8F7"/>
          </a:solidFill>
          <a:ln w="9525">
            <a:solidFill>
              <a:srgbClr val="E3E9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03536" y="235915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en Figma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912096" y="2971800"/>
            <a:ext cx="1929384" cy="566928"/>
          </a:xfrm>
          <a:prstGeom prst="roundRect">
            <a:avLst>
              <a:gd name="adj" fmla="val 8065"/>
            </a:avLst>
          </a:prstGeom>
          <a:solidFill>
            <a:srgbClr val="F4F8F7"/>
          </a:solidFill>
          <a:ln w="9525">
            <a:solidFill>
              <a:srgbClr val="E3E9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03536" y="301752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en GitHub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01464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68680" y="528523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TABLERO CREADO EN TRELLO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68680" y="555955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trello.com/b/jgp37Fpg/agenda-facil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1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CERRAR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buen ingeniero explica lo complejo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 cotidiano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07238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9443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4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bien el problema y el alcance evita construir lo que nadie pidió.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39312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112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4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la metodología según el contexto (no por moda) mejora el resultado.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07822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4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stack tecnológico se justifica por el problema, no al revés.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73168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6451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4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libreta de citas y Agenda Fácil resuelven lo mismo: coordinar personas a tiempo.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 · Cierre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 curso y fuentes usadas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73936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1, Tema 3 — Gestión de proyectos: qué es un proyecto, PMI y PMBOK.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40864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2, Temas 1-3 — Buenas prácticas, metodologías ágiles vs. tradicionales, herramientas tecnológicas modernas.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2666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90779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3 — Calidad del software: normas ISO 9126, métricas y plan de pruebas.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9359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4747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4 — Gestión de la configuración, despliegue, soporte y documentación del proyecto.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41648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Sommerville, I. Ingeniería del Software, 9ª edición, Addison-Wesley.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2744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608576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Pressman, R. Software Engineering: A Practitioner's Approach, McGraw Hill.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Fácil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Fácil — Ingeniería de Software explicada con la peluquería del barrio</dc:title>
  <dc:subject>PptxGenJS Presentation</dc:subject>
  <dc:creator>Sergio Alsina Quimbayo</dc:creator>
  <cp:lastModifiedBy>Sergio Alsina Quimbayo</cp:lastModifiedBy>
  <cp:revision>1</cp:revision>
  <dcterms:created xsi:type="dcterms:W3CDTF">2026-09-02T04:40:52Z</dcterms:created>
  <dcterms:modified xsi:type="dcterms:W3CDTF">2026-09-02T04:40:52Z</dcterms:modified>
</cp:coreProperties>
</file>